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2A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892AA"/>
                </a:solidFill>
                <a:latin typeface="Arial"/>
              </a:rPr>
              <a:t>Promedio de Tiendas por Día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 diario (tiendas)</c:v>
                </c:pt>
              </c:strCache>
            </c:strRef>
          </c:tx>
          <c:spPr>
            <a:solidFill>
              <a:srgbClr val="3D7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02-01</c:v>
                  </c:pt>
                  <c:pt idx="1">
                    <c:v>02-02</c:v>
                  </c:pt>
                  <c:pt idx="2">
                    <c:v>02-03</c:v>
                  </c:pt>
                  <c:pt idx="3">
                    <c:v>02-04</c:v>
                  </c:pt>
                  <c:pt idx="4">
                    <c:v>02-05</c:v>
                  </c:pt>
                  <c:pt idx="5">
                    <c:v>02-06</c:v>
                  </c:pt>
                  <c:pt idx="6">
                    <c:v>02-07</c:v>
                  </c:pt>
                  <c:pt idx="7">
                    <c:v>02-08</c:v>
                  </c:pt>
                  <c:pt idx="8">
                    <c:v>02-09</c:v>
                  </c:pt>
                  <c:pt idx="9">
                    <c:v>02-10</c:v>
                  </c:pt>
                  <c:pt idx="10">
                    <c:v>02-11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3022546</c:v>
                </c:pt>
                <c:pt idx="1">
                  <c:v>2620567</c:v>
                </c:pt>
                <c:pt idx="2">
                  <c:v>3379388</c:v>
                </c:pt>
                <c:pt idx="3">
                  <c:v>3524982</c:v>
                </c:pt>
                <c:pt idx="4">
                  <c:v>3663628</c:v>
                </c:pt>
                <c:pt idx="5">
                  <c:v>3722633</c:v>
                </c:pt>
                <c:pt idx="6">
                  <c:v>3480623</c:v>
                </c:pt>
                <c:pt idx="7">
                  <c:v>2741441</c:v>
                </c:pt>
                <c:pt idx="8">
                  <c:v>3067439</c:v>
                </c:pt>
                <c:pt idx="9">
                  <c:v>3209286</c:v>
                </c:pt>
                <c:pt idx="10">
                  <c:v>2462669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6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2A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892AA"/>
                </a:solidFill>
                <a:latin typeface="Arial"/>
              </a:rPr>
              <a:t>Patrón Horario (promedio)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 por hora del día</c:v>
                </c:pt>
              </c:strCache>
            </c:strRef>
          </c:tx>
          <c:spPr>
            <a:solidFill>
              <a:srgbClr val="00D4AA"/>
            </a:solidFill>
            <a:ln w="3175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6</c:v>
                  </c:pt>
                  <c:pt idx="2">
                    <c:v>7</c:v>
                  </c:pt>
                  <c:pt idx="3">
                    <c:v>8</c:v>
                  </c:pt>
                  <c:pt idx="4">
                    <c:v>9</c:v>
                  </c:pt>
                  <c:pt idx="5">
                    <c:v>10</c:v>
                  </c:pt>
                  <c:pt idx="6">
                    <c:v>11</c:v>
                  </c:pt>
                  <c:pt idx="7">
                    <c:v>12</c:v>
                  </c:pt>
                  <c:pt idx="8">
                    <c:v>13</c:v>
                  </c:pt>
                  <c:pt idx="9">
                    <c:v>14</c:v>
                  </c:pt>
                  <c:pt idx="10">
                    <c:v>15</c:v>
                  </c:pt>
                  <c:pt idx="11">
                    <c:v>16</c:v>
                  </c:pt>
                  <c:pt idx="12">
                    <c:v>17</c:v>
                  </c:pt>
                  <c:pt idx="13">
                    <c:v>18</c:v>
                  </c:pt>
                  <c:pt idx="14">
                    <c:v>19</c:v>
                  </c:pt>
                  <c:pt idx="15">
                    <c:v>20</c:v>
                  </c:pt>
                  <c:pt idx="16">
                    <c:v>21</c:v>
                  </c:pt>
                  <c:pt idx="17">
                    <c:v>22</c:v>
                  </c:pt>
                  <c:pt idx="18">
                    <c:v>23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703551</c:v>
                </c:pt>
                <c:pt idx="1">
                  <c:v>0</c:v>
                </c:pt>
                <c:pt idx="2">
                  <c:v>13242</c:v>
                </c:pt>
                <c:pt idx="3">
                  <c:v>371885</c:v>
                </c:pt>
                <c:pt idx="4">
                  <c:v>1234260</c:v>
                </c:pt>
                <c:pt idx="5">
                  <c:v>2154596</c:v>
                </c:pt>
                <c:pt idx="6">
                  <c:v>2883113</c:v>
                </c:pt>
                <c:pt idx="7">
                  <c:v>3726390</c:v>
                </c:pt>
                <c:pt idx="8">
                  <c:v>4510963</c:v>
                </c:pt>
                <c:pt idx="9">
                  <c:v>5158840</c:v>
                </c:pt>
                <c:pt idx="10">
                  <c:v>5238697</c:v>
                </c:pt>
                <c:pt idx="11">
                  <c:v>5146311</c:v>
                </c:pt>
                <c:pt idx="12">
                  <c:v>5247764</c:v>
                </c:pt>
                <c:pt idx="13">
                  <c:v>4983317</c:v>
                </c:pt>
                <c:pt idx="14">
                  <c:v>4804721</c:v>
                </c:pt>
                <c:pt idx="15">
                  <c:v>4482142</c:v>
                </c:pt>
                <c:pt idx="16">
                  <c:v>3757024</c:v>
                </c:pt>
                <c:pt idx="17">
                  <c:v>2849578</c:v>
                </c:pt>
                <c:pt idx="18">
                  <c:v>1619976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6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7BFF">
              <a:alpha val="8000"/>
            </a:srgbClr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14400"/>
            <a:ext cx="2747772" cy="201168"/>
          </a:xfrm>
          <a:prstGeom prst="rect">
            <a:avLst/>
          </a:prstGeom>
          <a:solidFill>
            <a:srgbClr val="FF3A5C">
              <a:alpha val="18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2747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A5C"/>
                </a:solidFill>
              </a:rPr>
              <a:t>RAPPIMAKERS 2026 · PRUEBA TÉCNICA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Store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Availability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2AA"/>
                </a:solidFill>
              </a:rPr>
              <a:t>Dashboard de visualización + Chatbot Semántico Local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2AA"/>
                </a:solidFill>
              </a:rPr>
              <a:t>para análisis de disponibilidad de tiendas en tiempo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Data Points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CSVs Procesados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Historia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6.2M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Peak Stores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274320"/>
            <a:ext cx="2468880" cy="4572000"/>
          </a:xfrm>
          <a:prstGeom prst="rect">
            <a:avLst/>
          </a:prstGeom>
          <a:solidFill>
            <a:srgbClr val="3D7BFF">
              <a:alpha val="6000"/>
            </a:srgbClr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3A5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RAPPI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8892AA"/>
                </a:solidFill>
              </a:rPr>
              <a:t>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6576" cy="658368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Uso Efectivo de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356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Cómo orquestamos agentes de AI en cada fase del proyecto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8229600" cy="65836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56232"/>
            <a:ext cx="36576" cy="658368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947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Arquitectura &amp;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FastAPI · React TypeScript · TF.js · Recharts · Zustand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15184"/>
            <a:ext cx="36576" cy="6583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249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7066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Funcionalidad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535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Dashboard + Chatbot Semántico 100% local con TensorFlow.js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65836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74136"/>
            <a:ext cx="36576" cy="65836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83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4655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Creatividad &amp; UX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124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Decisiones de diseño, paleta, flujo de usuario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33088"/>
            <a:ext cx="36576" cy="65836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428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6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4224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Calidad del Código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47141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Clean architecture, typing estricto, servicios reutilizables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436876" cy="201168"/>
          </a:xfrm>
          <a:prstGeom prst="rect">
            <a:avLst/>
          </a:prstGeom>
          <a:solidFill>
            <a:srgbClr val="FF3A5C">
              <a:alpha val="18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436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A5C"/>
                </a:solidFill>
              </a:rPr>
              <a:t>30% · CRITERIO MÁS IMPORTANTE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Uso Efectivo de IA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A"/>
                </a:solidFill>
              </a:rPr>
              <a:t>No copiamos/pegamos. Orquestamos agentes de AI en cada fase del pipeline.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36576" cy="150876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F3A5C"/>
                </a:solidFill>
              </a:rPr>
              <a:t>FASE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ETL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A5C"/>
                </a:solidFill>
              </a:rPr>
              <a:t>🤖  Claude Sonnet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2AA"/>
                </a:solidFill>
              </a:rPr>
              <a:t>Diseñó el parser de 201 CSVs, deduplicación y agregaciones estadísticas (percentiles, CV, uptime)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150876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71600"/>
            <a:ext cx="36576" cy="1508760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3D7BFF"/>
                </a:solidFill>
              </a:rPr>
              <a:t>FASE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0060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7BFF"/>
                </a:solidFill>
              </a:rPr>
              <a:t>🤖  Claude + Prompt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2AA"/>
                </a:solidFill>
              </a:rPr>
              <a:t>Definió la arquitectura FastAPI + React TS, contratos Pydantic, estructura de carpetas y patrones de diseño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023360" cy="150876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36576" cy="150876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B6DFF"/>
                </a:solidFill>
              </a:rPr>
              <a:t>FASE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436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NLP Chatbot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6DFF"/>
                </a:solidFill>
              </a:rPr>
              <a:t>🤖  TensorFlow.js 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2AA"/>
                </a:solidFill>
              </a:rPr>
              <a:t>Universal Sentence Encoder genera embeddings 512d. Cosine similarity para retrieval semántico sin APIs externas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023360" cy="150876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17520"/>
            <a:ext cx="36576" cy="1508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4AA"/>
                </a:solidFill>
              </a:rPr>
              <a:t>FASE 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0060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UI/UX 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🤖  Claude + Design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2AA"/>
                </a:solidFill>
              </a:rPr>
              <a:t>Generó componentes React TypeScript con Tailwind, custom hooks, Zustand store y Recharts con diseño oscuro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359152" cy="201168"/>
          </a:xfrm>
          <a:prstGeom prst="rect">
            <a:avLst/>
          </a:prstGeom>
          <a:solidFill>
            <a:srgbClr val="9B6DFF">
              <a:alpha val="18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6DFF"/>
                </a:solidFill>
              </a:rPr>
              <a:t>IA LOCAL · SIN APIS EXTERNAS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del Chatbot Semántico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188720"/>
            <a:ext cx="1188720" cy="1188720"/>
          </a:xfrm>
          <a:prstGeom prst="ellipse">
            <a:avLst/>
          </a:prstGeom>
          <a:solidFill>
            <a:srgbClr val="3D7BFF">
              <a:alpha val="18000"/>
            </a:srgbClr>
          </a:solidFill>
          <a:ln w="19050">
            <a:solidFill>
              <a:srgbClr val="3D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B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PREGUNTA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USUARIO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84248" y="1783080"/>
            <a:ext cx="548640" cy="0"/>
          </a:xfrm>
          <a:prstGeom prst="line">
            <a:avLst/>
          </a:prstGeom>
          <a:noFill/>
          <a:ln w="19050">
            <a:solidFill>
              <a:srgbClr val="8892AA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2788920" y="1188720"/>
            <a:ext cx="1188720" cy="1188720"/>
          </a:xfrm>
          <a:prstGeom prst="ellipse">
            <a:avLst/>
          </a:prstGeom>
          <a:solidFill>
            <a:srgbClr val="9B6DFF">
              <a:alpha val="18000"/>
            </a:srgbClr>
          </a:solidFill>
          <a:ln w="19050">
            <a:solidFill>
              <a:srgbClr val="9B6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88920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6D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512d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95928" y="1783080"/>
            <a:ext cx="548640" cy="0"/>
          </a:xfrm>
          <a:prstGeom prst="line">
            <a:avLst/>
          </a:prstGeom>
          <a:noFill/>
          <a:ln w="19050">
            <a:solidFill>
              <a:srgbClr val="8892AA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4800600" y="1188720"/>
            <a:ext cx="1188720" cy="1188720"/>
          </a:xfrm>
          <a:prstGeom prst="ellipse">
            <a:avLst/>
          </a:prstGeom>
          <a:solidFill>
            <a:srgbClr val="FF3A5C">
              <a:alpha val="18000"/>
            </a:srgbClr>
          </a:solidFill>
          <a:ln w="19050">
            <a:solidFill>
              <a:srgbClr val="FF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A5C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COSINE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SIMILARITY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07608" y="1783080"/>
            <a:ext cx="548640" cy="0"/>
          </a:xfrm>
          <a:prstGeom prst="line">
            <a:avLst/>
          </a:prstGeom>
          <a:noFill/>
          <a:ln w="19050">
            <a:solidFill>
              <a:srgbClr val="8892AA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6812280" y="1188720"/>
            <a:ext cx="1188720" cy="1188720"/>
          </a:xfrm>
          <a:prstGeom prst="ellipse">
            <a:avLst/>
          </a:prstGeom>
          <a:solidFill>
            <a:srgbClr val="FFB800">
              <a:alpha val="18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KNOWLEDGE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8229600" cy="1737360"/>
          </a:xfrm>
          <a:prstGeom prst="rect">
            <a:avLst/>
          </a:prstGeom>
          <a:solidFill>
            <a:srgbClr val="0F1629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54680"/>
            <a:ext cx="36576" cy="173736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735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</a:rPr>
              <a:t>@tensorflow-models/universal-sentence-encoder  ·  TF.js v4.17  ·  Inferencia WebGL/CPU  ·  ~8MB  ·  512 dimensiones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584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▸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Privacidad total</a:t>
            </a:r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  — los datos nunca salen del browser 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▸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 costo de API</a:t>
            </a:r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  — zero llamadas externas 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▸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Offline-first</a:t>
            </a:r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  — funciona sin red post-carga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▸  Latencia cero</a:t>
            </a:r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  — inferencia instantánea sin round-trip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▸  Determinístico</a:t>
            </a:r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  — misma pregunta = misma respuesta siempre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2793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B800"/>
                </a:solidFill>
              </a:rPr>
              <a:t>Trade-off: capacidad de generación limitada vs LLM grande. Elección deliberada para cumplir el requisito de modelo local.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193292" cy="201168"/>
          </a:xfrm>
          <a:prstGeom prst="rect">
            <a:avLst/>
          </a:prstGeom>
          <a:solidFill>
            <a:srgbClr val="3D7BFF">
              <a:alpha val="18000"/>
            </a:srgbClr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1932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D7BFF"/>
                </a:solidFill>
              </a:rPr>
              <a:t>STACK TÉCNICO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834640" cy="3840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834640" cy="502920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18 + TypeScript + Vite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057400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Recharts · Visualizaciones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587752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TanStack Query · Server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3118104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Zustand · Global Store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648456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Tailwind CSS · Design System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4178808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TF.js · AI Local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051560"/>
            <a:ext cx="2834640" cy="3840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1051560"/>
            <a:ext cx="2834640" cy="502920"/>
          </a:xfrm>
          <a:prstGeom prst="rect">
            <a:avLst/>
          </a:prstGeom>
          <a:solidFill>
            <a:srgbClr val="3D7BFF">
              <a:alpha val="25000"/>
            </a:srgbClr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7BFF"/>
                </a:solidFill>
              </a:rPr>
              <a:t>BACKEND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93008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 + Python 3.12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93008" y="2057400"/>
            <a:ext cx="82296" cy="82296"/>
          </a:xfrm>
          <a:prstGeom prst="ellipse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Pydantic v2 · Typed Models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93008" y="2587752"/>
            <a:ext cx="82296" cy="82296"/>
          </a:xfrm>
          <a:prstGeom prst="ellipse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1024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lru_cache · Singleton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93008" y="3118104"/>
            <a:ext cx="82296" cy="82296"/>
          </a:xfrm>
          <a:prstGeom prst="ellipse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CORS + Uvicorn ASGI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93008" y="3648456"/>
            <a:ext cx="82296" cy="82296"/>
          </a:xfrm>
          <a:prstGeom prst="ellipse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/api/metrics · /api/analytics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93008" y="4178808"/>
            <a:ext cx="82296" cy="82296"/>
          </a:xfrm>
          <a:prstGeom prst="ellipse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21024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REST JSON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1051560"/>
            <a:ext cx="2834640" cy="3840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1051560"/>
            <a:ext cx="2834640" cy="502920"/>
          </a:xfrm>
          <a:prstGeom prst="rect">
            <a:avLst/>
          </a:prstGeom>
          <a:solidFill>
            <a:srgbClr val="FF3A5C">
              <a:alpha val="25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A5C"/>
                </a:solidFill>
              </a:rPr>
              <a:t>DATA PIPELINE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10528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+ Pandas ETL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2057400"/>
            <a:ext cx="82296" cy="82296"/>
          </a:xfrm>
          <a:prstGeom prst="ellipse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8544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201 CSVs → dedup → JSON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10528" y="2587752"/>
            <a:ext cx="82296" cy="82296"/>
          </a:xfrm>
          <a:prstGeom prst="ellipse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8544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Agregaciones: daily/hourly/HOD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10528" y="3118104"/>
            <a:ext cx="82296" cy="82296"/>
          </a:xfrm>
          <a:prstGeom prst="ellipse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Percentiles P95, uptime 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10528" y="3648456"/>
            <a:ext cx="82296" cy="82296"/>
          </a:xfrm>
          <a:prstGeom prst="ellipse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8544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Coef. variación por hora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10528" y="4178808"/>
            <a:ext cx="82296" cy="82296"/>
          </a:xfrm>
          <a:prstGeom prst="ellipse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8544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</a:rPr>
              <a:t>Output: data.json ~117KB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0" y="2971800"/>
            <a:ext cx="182880" cy="0"/>
          </a:xfrm>
          <a:prstGeom prst="line">
            <a:avLst/>
          </a:prstGeom>
          <a:noFill/>
          <a:ln w="12700">
            <a:solidFill>
              <a:srgbClr val="8892AA"/>
            </a:solidFill>
            <a:prstDash val="sysDash"/>
          </a:ln>
        </p:spPr>
      </p:sp>
      <p:sp>
        <p:nvSpPr>
          <p:cNvPr id="49" name="Text 47"/>
          <p:cNvSpPr/>
          <p:nvPr/>
        </p:nvSpPr>
        <p:spPr>
          <a:xfrm>
            <a:off x="320040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AA"/>
                </a:solidFill>
              </a:rPr>
              <a:t>REST API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217920" y="2971800"/>
            <a:ext cx="182880" cy="0"/>
          </a:xfrm>
          <a:prstGeom prst="line">
            <a:avLst/>
          </a:prstGeom>
          <a:noFill/>
          <a:ln w="12700">
            <a:solidFill>
              <a:srgbClr val="8892AA"/>
            </a:solidFill>
            <a:prstDash val="sysDash"/>
          </a:ln>
        </p:spPr>
      </p:sp>
      <p:sp>
        <p:nvSpPr>
          <p:cNvPr id="51" name="Text 49"/>
          <p:cNvSpPr/>
          <p:nvPr/>
        </p:nvSpPr>
        <p:spPr>
          <a:xfrm>
            <a:off x="621792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AA"/>
                </a:solidFill>
              </a:rPr>
              <a:t>JSON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659636" cy="201168"/>
          </a:xfrm>
          <a:prstGeom prst="rect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659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AA"/>
                </a:solidFill>
              </a:rPr>
              <a:t>25% · FUNCIONALIDAD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hace la aplicación?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00D4AA">
              <a:alpha val="2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📊  Dashboard de Visualización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18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Serie temporal 5-min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1801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2,242 puntos · zoom interactivo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93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Patrón hora del día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276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Heatmap de actividad 0h–23h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615184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69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Barras comparativas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52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Máx · Avg · Mín por día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090672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44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Uptime diario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227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% disponibilidad &gt; 10K stores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20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KPI Cards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Peak 6.2M · Avg 3.1M · Uptime 98.7%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041648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95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Tabla diaria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41788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11 días con badges y trend bars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9B6DFF">
              <a:alpha val="22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FF"/>
                </a:solidFill>
              </a:rPr>
              <a:t>🤖  Chatbot Semántico Local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1664208"/>
            <a:ext cx="82296" cy="82296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1618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Responde en lenguaje natural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56048" y="1801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Entiende intención, no solo keywords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139696"/>
            <a:ext cx="82296" cy="82296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093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12 documentos de conocimiento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56048" y="2276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Hechos extraídos y verificados del CSV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615184"/>
            <a:ext cx="82296" cy="82296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569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 · embeddings 512 dims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56048" y="2752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Google model corriendo en el browser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090672"/>
            <a:ext cx="82296" cy="82296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044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Cosine similarity matching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56048" y="3227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Score mínimo 0.28 para evitar falsos positivos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566160"/>
            <a:ext cx="82296" cy="82296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Chips de sugerencia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56048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6 preguntas predefinidas para onboarding rápido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4041648"/>
            <a:ext cx="82296" cy="82296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3995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Fallback robusto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56048" y="4178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Reglas keyword si el modelo no carga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892808" cy="201168"/>
          </a:xfrm>
          <a:prstGeom prst="rect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AA"/>
                </a:solidFill>
              </a:rPr>
              <a:t>HALLAZGOS DEL ANÁLISIS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Insights del 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123444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32004" cy="1234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892AA"/>
                </a:solidFill>
              </a:rPr>
              <a:t>PEAK STORES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19842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6 Feb 2026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1005840"/>
            <a:ext cx="1920240" cy="123444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005840"/>
            <a:ext cx="32004" cy="1234440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115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892AA"/>
                </a:solidFill>
              </a:rPr>
              <a:t>PROMEDIO DIARIO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41448" y="1298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41448" y="19842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período completo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0" y="1005840"/>
            <a:ext cx="1920240" cy="123444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005840"/>
            <a:ext cx="32004" cy="12344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1115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892AA"/>
                </a:solidFill>
              </a:rPr>
              <a:t>PEAK HOUR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98848" y="1298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17:00h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98848" y="19842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franja 14h–17h COL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46520" y="1005840"/>
            <a:ext cx="1920240" cy="123444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005840"/>
            <a:ext cx="32004" cy="1234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1115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892AA"/>
                </a:solidFill>
              </a:rPr>
              <a:t>UPTIME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56248" y="1298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98.7%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556248" y="19842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horas operativas</a:t>
            </a:r>
            <a:endParaRPr lang="en-US" sz="8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237744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5760720" y="2377440"/>
          <a:ext cx="3108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892808" cy="201168"/>
          </a:xfrm>
          <a:prstGeom prst="rect">
            <a:avLst/>
          </a:prstGeom>
          <a:solidFill>
            <a:srgbClr val="FFB800">
              <a:alpha val="18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20% · CREATIVIDAD &amp; UX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Decisiones de Diseño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20700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6576" cy="1207008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🌑  Dark Mode First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" y="14356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A"/>
                </a:solidFill>
              </a:rPr>
              <a:t>Fondo #060810 con orbs animados y grid sutil. Operadores de datos trabajan largas jornadas — el dark mode reduce la fatiga visual y da sensación de herramienta profesional.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120700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51560"/>
            <a:ext cx="36576" cy="120700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🎨  Neon Accent System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91456" y="14356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A"/>
                </a:solidFill>
              </a:rPr>
              <a:t>Sistema de 5 colores semánticos: Rojo=alertas, Azul=datos, Teal=éxito, Amarillo=advertencia, Púrpura=IA. Cada métrica tiene su color sin ambigüedad.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4114800" cy="120700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04872"/>
            <a:ext cx="36576" cy="1207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📐  5 Páginas Navegables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" y="27889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A"/>
                </a:solidFill>
              </a:rPr>
              <a:t>Overview → Analytics → AI Chat → Insights → Stack. Flujo diseñado para el evaluador: primero los datos, luego la IA, luego los insights. No todo en un scroll interminable.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404872"/>
            <a:ext cx="4114800" cy="120700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404872"/>
            <a:ext cx="36576" cy="1207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⚡  Microinteracciones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91456" y="27889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A"/>
                </a:solidFill>
              </a:rPr>
              <a:t>Orbs flotantes, typing indicator en el chat, chips de sugerencia, hover states en tablas, transiciones CSS. Pequeños detalles que elevan la percepción de calidad.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58184"/>
            <a:ext cx="4114800" cy="120700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58184"/>
            <a:ext cx="36576" cy="1207008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🔤  Tipografía de Sistema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" y="414223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A"/>
                </a:solidFill>
              </a:rPr>
              <a:t>Clash Display (headings fuertes) + DM Mono (datos/código) + Inter (cuerpo). Jerarquía visual clara sin Google Fonts genéricas como Inter sola.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4114800" cy="1207008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758184"/>
            <a:ext cx="36576" cy="1207008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📱  Responsive Grid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91456" y="414223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A"/>
                </a:solidFill>
              </a:rPr>
              <a:t>CSS Grid adaptativo con breakpoints en 1100px, 900px y 520px. Funciona en móvil aunque el use case principal sea desktop.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048256" cy="201168"/>
          </a:xfrm>
          <a:prstGeom prst="rect">
            <a:avLst/>
          </a:prstGeom>
          <a:solidFill>
            <a:srgbClr val="FF3A5C">
              <a:alpha val="18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A5C"/>
                </a:solidFill>
              </a:rPr>
              <a:t>10% · CALIDAD DEL CÓDIGO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Limpia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BFF"/>
                </a:solidFill>
              </a:rPr>
              <a:t>Backend · FastAPI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114800" cy="237744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    # App factory + CORS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schemas.py    # Pydantic v2 typed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data_service.py  # lru_cache singleton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routers/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health.py     # GET /api/health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metrics.py    # GET /api/metrics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analytics.py  # GET /api/analytics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Frontend · React + TypeScript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237744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client.ts     # TanStack Query hooks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charts/       # Recharts wrappers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kpi/          # KPI Card atoms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chat/         # Chatbot UI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store/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useStore.ts   # Zustand slices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2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types/index.ts    # Shared interfaces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1920240" cy="91440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886200"/>
            <a:ext cx="1920240" cy="36576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Typed Contracts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279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Pydantic + TS interfaces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3886200"/>
            <a:ext cx="1920240" cy="91440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3886200"/>
            <a:ext cx="192024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Single Responsibility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4279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Cada módulo una responsabilidad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886200"/>
            <a:ext cx="1920240" cy="91440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886200"/>
            <a:ext cx="1920240" cy="36576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Caching Strategy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4279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lru_cache + React Query stale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75120" y="3886200"/>
            <a:ext cx="1920240" cy="914400"/>
          </a:xfrm>
          <a:prstGeom prst="rect">
            <a:avLst/>
          </a:prstGeom>
          <a:solidFill>
            <a:srgbClr val="1A2540"/>
          </a:solidFill>
          <a:ln w="6350">
            <a:solidFill>
              <a:srgbClr val="2A3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88620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 Magic Numbers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66560" y="4279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A"/>
                </a:solidFill>
              </a:rPr>
              <a:t>Constantes nombradas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193292" cy="201168"/>
          </a:xfrm>
          <a:prstGeom prst="rect">
            <a:avLst/>
          </a:prstGeom>
          <a:solidFill>
            <a:srgbClr val="9B6DFF">
              <a:alpha val="18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1932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6DFF"/>
                </a:solidFill>
              </a:rPr>
              <a:t>FLUJO DE DEMO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Recorrido de la Aplicación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94944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6576" cy="6949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274320" cy="274320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188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Overview → KPIs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Hero band con 6.2M peak, 5 KPI cards, timeline completo de 10 días, gráfica por día de semana y tabla resumen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0" y="1261872"/>
            <a:ext cx="960120" cy="347472"/>
          </a:xfrm>
          <a:prstGeom prst="rect">
            <a:avLst/>
          </a:prstGeom>
          <a:solidFill>
            <a:srgbClr val="00D4AA">
              <a:alpha val="18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2618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D4AA"/>
                </a:solidFill>
              </a:rPr>
              <a:t>PÁGINA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1865376"/>
            <a:ext cx="8412480" cy="694944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65376"/>
            <a:ext cx="36576" cy="694944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084832"/>
            <a:ext cx="274320" cy="274320"/>
          </a:xfrm>
          <a:prstGeom prst="ellipse">
            <a:avLst/>
          </a:prstGeom>
          <a:solidFill>
            <a:srgbClr val="3D7BFF">
              <a:alpha val="30000"/>
            </a:srgbClr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7B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1956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Analytics → Patrones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22311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Patrón HOD (peak 17h), mapa de volatilidad por hora, rango diario máx/avg/mín y heatmap 11×24 interactivo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0" y="2029968"/>
            <a:ext cx="960120" cy="347472"/>
          </a:xfrm>
          <a:prstGeom prst="rect">
            <a:avLst/>
          </a:prstGeom>
          <a:solidFill>
            <a:srgbClr val="3D7BFF">
              <a:alpha val="18000"/>
            </a:srgbClr>
          </a:solidFill>
          <a:ln w="6350">
            <a:solidFill>
              <a:srgbClr val="3D7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029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7BFF"/>
                </a:solidFill>
              </a:rPr>
              <a:t>PÁGINA 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633472"/>
            <a:ext cx="8412480" cy="694944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633472"/>
            <a:ext cx="36576" cy="69494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9B6DFF">
              <a:alpha val="30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D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2724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Chat → Preguntas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Demo: '¿cuál fue el día con más tiendas?', '¿a qué hora hay más actividad?', 'dame el resumen del período'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0" y="2798064"/>
            <a:ext cx="960120" cy="347472"/>
          </a:xfrm>
          <a:prstGeom prst="rect">
            <a:avLst/>
          </a:prstGeom>
          <a:solidFill>
            <a:srgbClr val="9B6DFF">
              <a:alpha val="18000"/>
            </a:srgbClr>
          </a:solidFill>
          <a:ln w="6350">
            <a:solidFill>
              <a:srgbClr val="9B6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7980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B6DFF"/>
                </a:solidFill>
              </a:rPr>
              <a:t>PÁGINA 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3401568"/>
            <a:ext cx="8412480" cy="694944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401568"/>
            <a:ext cx="36576" cy="69494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621024"/>
            <a:ext cx="274320" cy="274320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3493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Insights → Hallazgos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14400" y="3767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6 insights clave: crecimiento 105%, patrón 14-17h, semana vs weekend, drops nocturnos, corrección post-pico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0" y="3566160"/>
            <a:ext cx="960120" cy="347472"/>
          </a:xfrm>
          <a:prstGeom prst="rect">
            <a:avLst/>
          </a:prstGeom>
          <a:solidFill>
            <a:srgbClr val="FFB800">
              <a:alpha val="18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35661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B800"/>
                </a:solidFill>
              </a:rPr>
              <a:t>PÁGINA 4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4169664"/>
            <a:ext cx="8412480" cy="694944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169664"/>
            <a:ext cx="36576" cy="694944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389120"/>
            <a:ext cx="274320" cy="274320"/>
          </a:xfrm>
          <a:prstGeom prst="ellipse">
            <a:avLst/>
          </a:prstGeom>
          <a:solidFill>
            <a:srgbClr val="FF3A5C">
              <a:alpha val="30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A5C"/>
                </a:solidFill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" y="4261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Stack → Decisiones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4400" y="45354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Justificación técnica de cada herramienta, comparativa TF.js local vs APIs externas, trade-offs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72400" y="4334256"/>
            <a:ext cx="960120" cy="347472"/>
          </a:xfrm>
          <a:prstGeom prst="rect">
            <a:avLst/>
          </a:prstGeom>
          <a:solidFill>
            <a:srgbClr val="FF3A5C">
              <a:alpha val="18000"/>
            </a:srgbClr>
          </a:solidFill>
          <a:ln w="6350">
            <a:solidFill>
              <a:srgbClr val="FF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43342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3A5C"/>
                </a:solidFill>
              </a:rPr>
              <a:t>PÁGINA 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960120" cy="201168"/>
          </a:xfrm>
          <a:prstGeom prst="rect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AA"/>
                </a:solidFill>
              </a:rPr>
              <a:t>RESULTADOS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construimos en 1.5 horas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965960" cy="36576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CSVs procesados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196596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60320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puntos de datos únicos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88720"/>
            <a:ext cx="1965960" cy="36576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6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páginas del dashboard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188720"/>
            <a:ext cx="196596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58000" y="22677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documentos en KB semántica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26080"/>
            <a:ext cx="196596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54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98.7%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11480" y="4005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uptime del sistema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292608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2926080"/>
            <a:ext cx="1965960" cy="36576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154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APIs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2560320" y="4005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externas en el chatbot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92608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926080"/>
            <a:ext cx="1965960" cy="36576"/>
          </a:xfrm>
          <a:prstGeom prst="rect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154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176KB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4709160" y="4005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HTML auto-contenido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2926080"/>
            <a:ext cx="1965960" cy="1554480"/>
          </a:xfrm>
          <a:prstGeom prst="rect">
            <a:avLst/>
          </a:prstGeom>
          <a:solidFill>
            <a:srgbClr val="0F1629"/>
          </a:solidFill>
          <a:ln w="6350">
            <a:solidFill>
              <a:srgbClr val="1E2E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2926080"/>
            <a:ext cx="1965960" cy="36576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154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6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512d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6858000" y="4005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A"/>
                </a:solidFill>
              </a:rPr>
              <a:t>embeddings vectoriales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3A5C">
              <a:alpha val="90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60810"/>
          </a:solidFill>
          <a:ln w="12700">
            <a:solidFill>
              <a:srgbClr val="0608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0972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RAPPI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RappiMakers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BF"/>
                </a:solidFill>
              </a:rPr>
              <a:t>Prueba Técnica · VP Tech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280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¿Preguntas?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0" y="2331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Código fuente: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23317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Carpeta /rappi-dashboard con backend + frontend + pipeline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App corriendo: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0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npm run dev:backend &amp; npm run dev:frontend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0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Dashboard URL: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33375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http://localhost:5173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0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API Docs: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3840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http://localhost:8000/api/docs  (Swagger UI)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0" y="4343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AI Model: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4343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</a:rPr>
              <a:t>TF.js USE cargado en browser, sin keys de API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Store Availability Dashboard</dc:title>
  <dc:subject>Prueba Técnica RappiMakers 2026</dc:subject>
  <dc:creator>RappiMakers 2026</dc:creator>
  <cp:lastModifiedBy>RappiMakers 2026</cp:lastModifiedBy>
  <cp:revision>1</cp:revision>
  <dcterms:created xsi:type="dcterms:W3CDTF">2026-04-21T20:54:58Z</dcterms:created>
  <dcterms:modified xsi:type="dcterms:W3CDTF">2026-04-21T20:54:58Z</dcterms:modified>
</cp:coreProperties>
</file>